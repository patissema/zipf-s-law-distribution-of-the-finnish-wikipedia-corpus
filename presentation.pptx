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</p:sldMasterIdLst>
  <p:notesMasterIdLst>
    <p:notesMasterId r:id="rId39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5.xml"/><Relationship Id="rId34" Type="http://schemas.openxmlformats.org/officeDocument/2006/relationships/slide" Target="slides/slide18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4.xml"/><Relationship Id="rId29" Type="http://schemas.openxmlformats.org/officeDocument/2006/relationships/slide" Target="slides/slide13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8.xml"/><Relationship Id="rId32" Type="http://schemas.openxmlformats.org/officeDocument/2006/relationships/slide" Target="slides/slide16.xml"/><Relationship Id="rId37" Type="http://schemas.openxmlformats.org/officeDocument/2006/relationships/slide" Target="slides/slide2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slide" Target="slides/slide20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3.xml"/><Relationship Id="rId31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slide" Target="slides/slide14.xml"/><Relationship Id="rId35" Type="http://schemas.openxmlformats.org/officeDocument/2006/relationships/slide" Target="slides/slide19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slide" Target="slides/slide17.xml"/><Relationship Id="rId38" Type="http://schemas.openxmlformats.org/officeDocument/2006/relationships/slide" Target="slides/slide2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63A99B-A946-4C52-834B-206414BE5A0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A469665-7366-4B34-9746-4CC5D190425D}">
      <dgm:prSet/>
      <dgm:spPr/>
      <dgm:t>
        <a:bodyPr/>
        <a:lstStyle/>
        <a:p>
          <a:r>
            <a:rPr lang="fr-FR"/>
            <a:t>No real-time shared document or git.</a:t>
          </a:r>
          <a:endParaRPr lang="en-US"/>
        </a:p>
      </dgm:t>
    </dgm:pt>
    <dgm:pt modelId="{3B42AC85-01E8-4789-85D4-0843E1645F9C}" type="parTrans" cxnId="{8DDFF2C8-DA3C-4949-B8AE-37F69070B9D2}">
      <dgm:prSet/>
      <dgm:spPr/>
      <dgm:t>
        <a:bodyPr/>
        <a:lstStyle/>
        <a:p>
          <a:endParaRPr lang="en-US"/>
        </a:p>
      </dgm:t>
    </dgm:pt>
    <dgm:pt modelId="{97BD8606-D01C-4680-BDF5-619DA6422995}" type="sibTrans" cxnId="{8DDFF2C8-DA3C-4949-B8AE-37F69070B9D2}">
      <dgm:prSet/>
      <dgm:spPr/>
      <dgm:t>
        <a:bodyPr/>
        <a:lstStyle/>
        <a:p>
          <a:endParaRPr lang="en-US"/>
        </a:p>
      </dgm:t>
    </dgm:pt>
    <dgm:pt modelId="{317552FD-F54E-40C7-92BC-89A4ECA699A4}">
      <dgm:prSet/>
      <dgm:spPr/>
      <dgm:t>
        <a:bodyPr/>
        <a:lstStyle/>
        <a:p>
          <a:r>
            <a:rPr lang="fr-FR"/>
            <a:t>Data are very large which made some scripts very very long to run (~3 hours for the longest one)</a:t>
          </a:r>
          <a:endParaRPr lang="en-US"/>
        </a:p>
      </dgm:t>
    </dgm:pt>
    <dgm:pt modelId="{C79BC338-5FEB-4332-9BD7-9DFCA26C6464}" type="parTrans" cxnId="{F20AB686-9968-4AF0-A56A-3B01DC3B4A92}">
      <dgm:prSet/>
      <dgm:spPr/>
      <dgm:t>
        <a:bodyPr/>
        <a:lstStyle/>
        <a:p>
          <a:endParaRPr lang="en-US"/>
        </a:p>
      </dgm:t>
    </dgm:pt>
    <dgm:pt modelId="{BE58F989-A1E2-474B-9249-D2330E8D8F36}" type="sibTrans" cxnId="{F20AB686-9968-4AF0-A56A-3B01DC3B4A92}">
      <dgm:prSet/>
      <dgm:spPr/>
      <dgm:t>
        <a:bodyPr/>
        <a:lstStyle/>
        <a:p>
          <a:endParaRPr lang="en-US"/>
        </a:p>
      </dgm:t>
    </dgm:pt>
    <dgm:pt modelId="{E39FD9F6-D81B-405C-8E59-9770E37D157C}">
      <dgm:prSet/>
      <dgm:spPr/>
      <dgm:t>
        <a:bodyPr/>
        <a:lstStyle/>
        <a:p>
          <a:r>
            <a:rPr lang="fr-FR"/>
            <a:t>Often ended up « re-pre-process » the data for later Tasks as we didn’t get some specific characteristics previously.</a:t>
          </a:r>
          <a:endParaRPr lang="en-US"/>
        </a:p>
      </dgm:t>
    </dgm:pt>
    <dgm:pt modelId="{899DC4F6-0D20-48D3-A8E9-17864E0A6855}" type="parTrans" cxnId="{F4ECA843-E1CA-4AE7-A57C-4954FE856C0B}">
      <dgm:prSet/>
      <dgm:spPr/>
      <dgm:t>
        <a:bodyPr/>
        <a:lstStyle/>
        <a:p>
          <a:endParaRPr lang="en-US"/>
        </a:p>
      </dgm:t>
    </dgm:pt>
    <dgm:pt modelId="{6D2BF044-441C-466A-82DE-0D42ECE6127B}" type="sibTrans" cxnId="{F4ECA843-E1CA-4AE7-A57C-4954FE856C0B}">
      <dgm:prSet/>
      <dgm:spPr/>
      <dgm:t>
        <a:bodyPr/>
        <a:lstStyle/>
        <a:p>
          <a:endParaRPr lang="en-US"/>
        </a:p>
      </dgm:t>
    </dgm:pt>
    <dgm:pt modelId="{56FA682F-4219-48E3-A0A6-18D90689FCF2}" type="pres">
      <dgm:prSet presAssocID="{CF63A99B-A946-4C52-834B-206414BE5A0C}" presName="root" presStyleCnt="0">
        <dgm:presLayoutVars>
          <dgm:dir/>
          <dgm:resizeHandles val="exact"/>
        </dgm:presLayoutVars>
      </dgm:prSet>
      <dgm:spPr/>
    </dgm:pt>
    <dgm:pt modelId="{A938CCC8-3654-4E37-975C-B5AC09BC903B}" type="pres">
      <dgm:prSet presAssocID="{9A469665-7366-4B34-9746-4CC5D190425D}" presName="compNode" presStyleCnt="0"/>
      <dgm:spPr/>
    </dgm:pt>
    <dgm:pt modelId="{82FBCD62-8D2E-4152-BB80-F30274BBA02F}" type="pres">
      <dgm:prSet presAssocID="{9A469665-7366-4B34-9746-4CC5D190425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90525AE-0712-4130-B3F4-29504B01FAF3}" type="pres">
      <dgm:prSet presAssocID="{9A469665-7366-4B34-9746-4CC5D190425D}" presName="spaceRect" presStyleCnt="0"/>
      <dgm:spPr/>
    </dgm:pt>
    <dgm:pt modelId="{99C14690-6B41-41C5-BB34-8EC4AFC897E0}" type="pres">
      <dgm:prSet presAssocID="{9A469665-7366-4B34-9746-4CC5D190425D}" presName="textRect" presStyleLbl="revTx" presStyleIdx="0" presStyleCnt="3">
        <dgm:presLayoutVars>
          <dgm:chMax val="1"/>
          <dgm:chPref val="1"/>
        </dgm:presLayoutVars>
      </dgm:prSet>
      <dgm:spPr/>
    </dgm:pt>
    <dgm:pt modelId="{7BCE0A12-653C-4D6C-B345-3F21150FC784}" type="pres">
      <dgm:prSet presAssocID="{97BD8606-D01C-4680-BDF5-619DA6422995}" presName="sibTrans" presStyleCnt="0"/>
      <dgm:spPr/>
    </dgm:pt>
    <dgm:pt modelId="{6BF7AD22-9C77-45FF-954D-75E76CFBEE29}" type="pres">
      <dgm:prSet presAssocID="{317552FD-F54E-40C7-92BC-89A4ECA699A4}" presName="compNode" presStyleCnt="0"/>
      <dgm:spPr/>
    </dgm:pt>
    <dgm:pt modelId="{51A1130D-F731-46D2-AD7F-B4FD7ECC6973}" type="pres">
      <dgm:prSet presAssocID="{317552FD-F54E-40C7-92BC-89A4ECA699A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onnées"/>
        </a:ext>
      </dgm:extLst>
    </dgm:pt>
    <dgm:pt modelId="{0FA395B8-2228-4395-B808-1796CCD86948}" type="pres">
      <dgm:prSet presAssocID="{317552FD-F54E-40C7-92BC-89A4ECA699A4}" presName="spaceRect" presStyleCnt="0"/>
      <dgm:spPr/>
    </dgm:pt>
    <dgm:pt modelId="{66A41C52-6A6C-4C44-BB45-08771551BE97}" type="pres">
      <dgm:prSet presAssocID="{317552FD-F54E-40C7-92BC-89A4ECA699A4}" presName="textRect" presStyleLbl="revTx" presStyleIdx="1" presStyleCnt="3">
        <dgm:presLayoutVars>
          <dgm:chMax val="1"/>
          <dgm:chPref val="1"/>
        </dgm:presLayoutVars>
      </dgm:prSet>
      <dgm:spPr/>
    </dgm:pt>
    <dgm:pt modelId="{17885DEB-5F37-4091-9C61-1AADAB839665}" type="pres">
      <dgm:prSet presAssocID="{BE58F989-A1E2-474B-9249-D2330E8D8F36}" presName="sibTrans" presStyleCnt="0"/>
      <dgm:spPr/>
    </dgm:pt>
    <dgm:pt modelId="{64800939-3000-4B10-9860-D47F8D0AF8E0}" type="pres">
      <dgm:prSet presAssocID="{E39FD9F6-D81B-405C-8E59-9770E37D157C}" presName="compNode" presStyleCnt="0"/>
      <dgm:spPr/>
    </dgm:pt>
    <dgm:pt modelId="{12F49C65-097B-45B8-B9B6-5F57ED66A3E4}" type="pres">
      <dgm:prSet presAssocID="{E39FD9F6-D81B-405C-8E59-9770E37D157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e de contrôle"/>
        </a:ext>
      </dgm:extLst>
    </dgm:pt>
    <dgm:pt modelId="{F7F2145E-54F7-4AE7-9677-BAD0B3B5EFA1}" type="pres">
      <dgm:prSet presAssocID="{E39FD9F6-D81B-405C-8E59-9770E37D157C}" presName="spaceRect" presStyleCnt="0"/>
      <dgm:spPr/>
    </dgm:pt>
    <dgm:pt modelId="{1482A96A-36FD-4184-B8E7-4C0624002130}" type="pres">
      <dgm:prSet presAssocID="{E39FD9F6-D81B-405C-8E59-9770E37D157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328F621-A3E7-42AB-9176-7EBCBF3299B9}" type="presOf" srcId="{9A469665-7366-4B34-9746-4CC5D190425D}" destId="{99C14690-6B41-41C5-BB34-8EC4AFC897E0}" srcOrd="0" destOrd="0" presId="urn:microsoft.com/office/officeart/2018/2/layout/IconLabelList"/>
    <dgm:cxn modelId="{F4ECA843-E1CA-4AE7-A57C-4954FE856C0B}" srcId="{CF63A99B-A946-4C52-834B-206414BE5A0C}" destId="{E39FD9F6-D81B-405C-8E59-9770E37D157C}" srcOrd="2" destOrd="0" parTransId="{899DC4F6-0D20-48D3-A8E9-17864E0A6855}" sibTransId="{6D2BF044-441C-466A-82DE-0D42ECE6127B}"/>
    <dgm:cxn modelId="{F20AB686-9968-4AF0-A56A-3B01DC3B4A92}" srcId="{CF63A99B-A946-4C52-834B-206414BE5A0C}" destId="{317552FD-F54E-40C7-92BC-89A4ECA699A4}" srcOrd="1" destOrd="0" parTransId="{C79BC338-5FEB-4332-9BD7-9DFCA26C6464}" sibTransId="{BE58F989-A1E2-474B-9249-D2330E8D8F36}"/>
    <dgm:cxn modelId="{D00CF089-D3F1-4B15-B8B2-DB30DC0855CB}" type="presOf" srcId="{CF63A99B-A946-4C52-834B-206414BE5A0C}" destId="{56FA682F-4219-48E3-A0A6-18D90689FCF2}" srcOrd="0" destOrd="0" presId="urn:microsoft.com/office/officeart/2018/2/layout/IconLabelList"/>
    <dgm:cxn modelId="{8642DFC1-A19D-473F-83C8-46AFF9F5551A}" type="presOf" srcId="{317552FD-F54E-40C7-92BC-89A4ECA699A4}" destId="{66A41C52-6A6C-4C44-BB45-08771551BE97}" srcOrd="0" destOrd="0" presId="urn:microsoft.com/office/officeart/2018/2/layout/IconLabelList"/>
    <dgm:cxn modelId="{8DDFF2C8-DA3C-4949-B8AE-37F69070B9D2}" srcId="{CF63A99B-A946-4C52-834B-206414BE5A0C}" destId="{9A469665-7366-4B34-9746-4CC5D190425D}" srcOrd="0" destOrd="0" parTransId="{3B42AC85-01E8-4789-85D4-0843E1645F9C}" sibTransId="{97BD8606-D01C-4680-BDF5-619DA6422995}"/>
    <dgm:cxn modelId="{D3E0E6E7-1AB7-47C4-B71E-CF888EB09C48}" type="presOf" srcId="{E39FD9F6-D81B-405C-8E59-9770E37D157C}" destId="{1482A96A-36FD-4184-B8E7-4C0624002130}" srcOrd="0" destOrd="0" presId="urn:microsoft.com/office/officeart/2018/2/layout/IconLabelList"/>
    <dgm:cxn modelId="{BE9830F6-E422-4A85-B8DE-A72B21054498}" type="presParOf" srcId="{56FA682F-4219-48E3-A0A6-18D90689FCF2}" destId="{A938CCC8-3654-4E37-975C-B5AC09BC903B}" srcOrd="0" destOrd="0" presId="urn:microsoft.com/office/officeart/2018/2/layout/IconLabelList"/>
    <dgm:cxn modelId="{BB527574-670B-4782-BE78-B5F207E454E3}" type="presParOf" srcId="{A938CCC8-3654-4E37-975C-B5AC09BC903B}" destId="{82FBCD62-8D2E-4152-BB80-F30274BBA02F}" srcOrd="0" destOrd="0" presId="urn:microsoft.com/office/officeart/2018/2/layout/IconLabelList"/>
    <dgm:cxn modelId="{428B0A42-E724-48B2-BB2E-02E76CEC4B38}" type="presParOf" srcId="{A938CCC8-3654-4E37-975C-B5AC09BC903B}" destId="{D90525AE-0712-4130-B3F4-29504B01FAF3}" srcOrd="1" destOrd="0" presId="urn:microsoft.com/office/officeart/2018/2/layout/IconLabelList"/>
    <dgm:cxn modelId="{95FC18EC-9F25-4A02-880D-D3DE1E56A3FD}" type="presParOf" srcId="{A938CCC8-3654-4E37-975C-B5AC09BC903B}" destId="{99C14690-6B41-41C5-BB34-8EC4AFC897E0}" srcOrd="2" destOrd="0" presId="urn:microsoft.com/office/officeart/2018/2/layout/IconLabelList"/>
    <dgm:cxn modelId="{89F9735F-07B2-42BC-899A-23FF381F90BE}" type="presParOf" srcId="{56FA682F-4219-48E3-A0A6-18D90689FCF2}" destId="{7BCE0A12-653C-4D6C-B345-3F21150FC784}" srcOrd="1" destOrd="0" presId="urn:microsoft.com/office/officeart/2018/2/layout/IconLabelList"/>
    <dgm:cxn modelId="{837FCD01-863C-437E-ACEA-41E4CDE849E3}" type="presParOf" srcId="{56FA682F-4219-48E3-A0A6-18D90689FCF2}" destId="{6BF7AD22-9C77-45FF-954D-75E76CFBEE29}" srcOrd="2" destOrd="0" presId="urn:microsoft.com/office/officeart/2018/2/layout/IconLabelList"/>
    <dgm:cxn modelId="{D08E8A3A-B5F8-495F-8C56-FDAE677E97C9}" type="presParOf" srcId="{6BF7AD22-9C77-45FF-954D-75E76CFBEE29}" destId="{51A1130D-F731-46D2-AD7F-B4FD7ECC6973}" srcOrd="0" destOrd="0" presId="urn:microsoft.com/office/officeart/2018/2/layout/IconLabelList"/>
    <dgm:cxn modelId="{B1D5193E-E5EE-4D0D-9301-BC6044FD86D1}" type="presParOf" srcId="{6BF7AD22-9C77-45FF-954D-75E76CFBEE29}" destId="{0FA395B8-2228-4395-B808-1796CCD86948}" srcOrd="1" destOrd="0" presId="urn:microsoft.com/office/officeart/2018/2/layout/IconLabelList"/>
    <dgm:cxn modelId="{1B56F5F4-9811-4E49-8542-DB3F6C470C1D}" type="presParOf" srcId="{6BF7AD22-9C77-45FF-954D-75E76CFBEE29}" destId="{66A41C52-6A6C-4C44-BB45-08771551BE97}" srcOrd="2" destOrd="0" presId="urn:microsoft.com/office/officeart/2018/2/layout/IconLabelList"/>
    <dgm:cxn modelId="{40AB4399-C7C5-428D-B61B-DED965A3219D}" type="presParOf" srcId="{56FA682F-4219-48E3-A0A6-18D90689FCF2}" destId="{17885DEB-5F37-4091-9C61-1AADAB839665}" srcOrd="3" destOrd="0" presId="urn:microsoft.com/office/officeart/2018/2/layout/IconLabelList"/>
    <dgm:cxn modelId="{51DE698C-3439-4CCE-B400-F9DAA2193E59}" type="presParOf" srcId="{56FA682F-4219-48E3-A0A6-18D90689FCF2}" destId="{64800939-3000-4B10-9860-D47F8D0AF8E0}" srcOrd="4" destOrd="0" presId="urn:microsoft.com/office/officeart/2018/2/layout/IconLabelList"/>
    <dgm:cxn modelId="{2BF11BAB-791D-4F06-B1B1-374D80B01062}" type="presParOf" srcId="{64800939-3000-4B10-9860-D47F8D0AF8E0}" destId="{12F49C65-097B-45B8-B9B6-5F57ED66A3E4}" srcOrd="0" destOrd="0" presId="urn:microsoft.com/office/officeart/2018/2/layout/IconLabelList"/>
    <dgm:cxn modelId="{A10DB080-55CE-4669-8679-DE2FE5C4BF1B}" type="presParOf" srcId="{64800939-3000-4B10-9860-D47F8D0AF8E0}" destId="{F7F2145E-54F7-4AE7-9677-BAD0B3B5EFA1}" srcOrd="1" destOrd="0" presId="urn:microsoft.com/office/officeart/2018/2/layout/IconLabelList"/>
    <dgm:cxn modelId="{570CE83C-4946-43DA-A834-0777041E0C4B}" type="presParOf" srcId="{64800939-3000-4B10-9860-D47F8D0AF8E0}" destId="{1482A96A-36FD-4184-B8E7-4C062400213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DA79C5-6EC7-45A9-9DCB-0BCA11047F1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2DAC0B6-A29B-4BB4-9A08-D5356C1DAABD}">
      <dgm:prSet/>
      <dgm:spPr/>
      <dgm:t>
        <a:bodyPr/>
        <a:lstStyle/>
        <a:p>
          <a:r>
            <a:rPr lang="fr-FR"/>
            <a:t>Mainly finishing the report.</a:t>
          </a:r>
          <a:endParaRPr lang="en-US"/>
        </a:p>
      </dgm:t>
    </dgm:pt>
    <dgm:pt modelId="{880AE60A-93C9-4B94-B3B3-FFEB321D023F}" type="parTrans" cxnId="{21D823D9-9D6C-4A58-A3A9-6E3A47B277D3}">
      <dgm:prSet/>
      <dgm:spPr/>
      <dgm:t>
        <a:bodyPr/>
        <a:lstStyle/>
        <a:p>
          <a:endParaRPr lang="en-US"/>
        </a:p>
      </dgm:t>
    </dgm:pt>
    <dgm:pt modelId="{77F5E94E-06AF-4D30-AF18-03752D9EE967}" type="sibTrans" cxnId="{21D823D9-9D6C-4A58-A3A9-6E3A47B277D3}">
      <dgm:prSet/>
      <dgm:spPr/>
      <dgm:t>
        <a:bodyPr/>
        <a:lstStyle/>
        <a:p>
          <a:endParaRPr lang="en-US"/>
        </a:p>
      </dgm:t>
    </dgm:pt>
    <dgm:pt modelId="{00799A7F-A7D0-4EF2-BD1D-F7A153524F11}">
      <dgm:prSet/>
      <dgm:spPr/>
      <dgm:t>
        <a:bodyPr/>
        <a:lstStyle/>
        <a:p>
          <a:r>
            <a:rPr lang="fr-FR"/>
            <a:t>Maybe try to cleanup the code and make the data pre-processing more optimized</a:t>
          </a:r>
          <a:endParaRPr lang="en-US"/>
        </a:p>
      </dgm:t>
    </dgm:pt>
    <dgm:pt modelId="{A7B13D74-A62B-4207-A1AE-74BBD222D4DD}" type="parTrans" cxnId="{B1DA1109-4D09-46EA-A157-76E05B97BCAA}">
      <dgm:prSet/>
      <dgm:spPr/>
      <dgm:t>
        <a:bodyPr/>
        <a:lstStyle/>
        <a:p>
          <a:endParaRPr lang="en-US"/>
        </a:p>
      </dgm:t>
    </dgm:pt>
    <dgm:pt modelId="{4871D83F-9041-4E58-92EF-2A73308BE8A9}" type="sibTrans" cxnId="{B1DA1109-4D09-46EA-A157-76E05B97BCAA}">
      <dgm:prSet/>
      <dgm:spPr/>
      <dgm:t>
        <a:bodyPr/>
        <a:lstStyle/>
        <a:p>
          <a:endParaRPr lang="en-US"/>
        </a:p>
      </dgm:t>
    </dgm:pt>
    <dgm:pt modelId="{73430043-3616-490C-A16D-0F05BD3301B0}">
      <dgm:prSet/>
      <dgm:spPr/>
      <dgm:t>
        <a:bodyPr/>
        <a:lstStyle/>
        <a:p>
          <a:r>
            <a:rPr lang="fr-FR"/>
            <a:t>Confronting our results to other research papers</a:t>
          </a:r>
          <a:endParaRPr lang="en-US"/>
        </a:p>
      </dgm:t>
    </dgm:pt>
    <dgm:pt modelId="{BCA94751-95A3-4CE7-9BB0-40EFD38F5955}" type="parTrans" cxnId="{D68E4F49-02EA-49F7-B931-62DADF5161BA}">
      <dgm:prSet/>
      <dgm:spPr/>
      <dgm:t>
        <a:bodyPr/>
        <a:lstStyle/>
        <a:p>
          <a:endParaRPr lang="en-US"/>
        </a:p>
      </dgm:t>
    </dgm:pt>
    <dgm:pt modelId="{C3BAD0A7-0B2D-4B07-814B-9E2AD88AC653}" type="sibTrans" cxnId="{D68E4F49-02EA-49F7-B931-62DADF5161BA}">
      <dgm:prSet/>
      <dgm:spPr/>
      <dgm:t>
        <a:bodyPr/>
        <a:lstStyle/>
        <a:p>
          <a:endParaRPr lang="en-US"/>
        </a:p>
      </dgm:t>
    </dgm:pt>
    <dgm:pt modelId="{F809B53D-D556-4739-823E-899347C566E2}" type="pres">
      <dgm:prSet presAssocID="{1ADA79C5-6EC7-45A9-9DCB-0BCA11047F1F}" presName="root" presStyleCnt="0">
        <dgm:presLayoutVars>
          <dgm:dir/>
          <dgm:resizeHandles val="exact"/>
        </dgm:presLayoutVars>
      </dgm:prSet>
      <dgm:spPr/>
    </dgm:pt>
    <dgm:pt modelId="{32352263-5C4B-427F-BCB7-3D2DF3F1FB64}" type="pres">
      <dgm:prSet presAssocID="{52DAC0B6-A29B-4BB4-9A08-D5356C1DAABD}" presName="compNode" presStyleCnt="0"/>
      <dgm:spPr/>
    </dgm:pt>
    <dgm:pt modelId="{AD157BC0-5984-4062-B87F-7CAF0AB4AC38}" type="pres">
      <dgm:prSet presAssocID="{52DAC0B6-A29B-4BB4-9A08-D5356C1DAABD}" presName="bgRect" presStyleLbl="bgShp" presStyleIdx="0" presStyleCnt="3"/>
      <dgm:spPr/>
    </dgm:pt>
    <dgm:pt modelId="{639795F6-0DD4-442A-B570-42F700B0658E}" type="pres">
      <dgm:prSet presAssocID="{52DAC0B6-A29B-4BB4-9A08-D5356C1DAAB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blier terminé"/>
        </a:ext>
      </dgm:extLst>
    </dgm:pt>
    <dgm:pt modelId="{06A3FA5D-5CEC-4706-9201-B2BB1AA8929F}" type="pres">
      <dgm:prSet presAssocID="{52DAC0B6-A29B-4BB4-9A08-D5356C1DAABD}" presName="spaceRect" presStyleCnt="0"/>
      <dgm:spPr/>
    </dgm:pt>
    <dgm:pt modelId="{94D1009E-F6BC-431E-A7ED-E8145719D89A}" type="pres">
      <dgm:prSet presAssocID="{52DAC0B6-A29B-4BB4-9A08-D5356C1DAABD}" presName="parTx" presStyleLbl="revTx" presStyleIdx="0" presStyleCnt="3">
        <dgm:presLayoutVars>
          <dgm:chMax val="0"/>
          <dgm:chPref val="0"/>
        </dgm:presLayoutVars>
      </dgm:prSet>
      <dgm:spPr/>
    </dgm:pt>
    <dgm:pt modelId="{9AE3695F-7DF5-4308-8E5D-5B4F2374D78D}" type="pres">
      <dgm:prSet presAssocID="{77F5E94E-06AF-4D30-AF18-03752D9EE967}" presName="sibTrans" presStyleCnt="0"/>
      <dgm:spPr/>
    </dgm:pt>
    <dgm:pt modelId="{0D95E57E-1C4D-4924-9997-9E553CC72CFF}" type="pres">
      <dgm:prSet presAssocID="{00799A7F-A7D0-4EF2-BD1D-F7A153524F11}" presName="compNode" presStyleCnt="0"/>
      <dgm:spPr/>
    </dgm:pt>
    <dgm:pt modelId="{C303AAA3-5851-469B-B077-236409E34162}" type="pres">
      <dgm:prSet presAssocID="{00799A7F-A7D0-4EF2-BD1D-F7A153524F11}" presName="bgRect" presStyleLbl="bgShp" presStyleIdx="1" presStyleCnt="3"/>
      <dgm:spPr/>
    </dgm:pt>
    <dgm:pt modelId="{B5301436-10BD-4B80-9F29-E9F6A21F4CBB}" type="pres">
      <dgm:prSet presAssocID="{00799A7F-A7D0-4EF2-BD1D-F7A153524F1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4E9F9786-5D65-4CF7-A694-3A4B1FA905E6}" type="pres">
      <dgm:prSet presAssocID="{00799A7F-A7D0-4EF2-BD1D-F7A153524F11}" presName="spaceRect" presStyleCnt="0"/>
      <dgm:spPr/>
    </dgm:pt>
    <dgm:pt modelId="{B6CE034E-1242-47BB-884E-725F779112E9}" type="pres">
      <dgm:prSet presAssocID="{00799A7F-A7D0-4EF2-BD1D-F7A153524F11}" presName="parTx" presStyleLbl="revTx" presStyleIdx="1" presStyleCnt="3">
        <dgm:presLayoutVars>
          <dgm:chMax val="0"/>
          <dgm:chPref val="0"/>
        </dgm:presLayoutVars>
      </dgm:prSet>
      <dgm:spPr/>
    </dgm:pt>
    <dgm:pt modelId="{BB3E3401-AB73-4325-9E35-2100838574E9}" type="pres">
      <dgm:prSet presAssocID="{4871D83F-9041-4E58-92EF-2A73308BE8A9}" presName="sibTrans" presStyleCnt="0"/>
      <dgm:spPr/>
    </dgm:pt>
    <dgm:pt modelId="{9ED6111B-36C4-4704-9952-4A46A23048D3}" type="pres">
      <dgm:prSet presAssocID="{73430043-3616-490C-A16D-0F05BD3301B0}" presName="compNode" presStyleCnt="0"/>
      <dgm:spPr/>
    </dgm:pt>
    <dgm:pt modelId="{4C574011-2BFC-4CAF-8528-8B5188503675}" type="pres">
      <dgm:prSet presAssocID="{73430043-3616-490C-A16D-0F05BD3301B0}" presName="bgRect" presStyleLbl="bgShp" presStyleIdx="2" presStyleCnt="3"/>
      <dgm:spPr/>
    </dgm:pt>
    <dgm:pt modelId="{762A72B9-EBE2-49B2-988B-2695FDFA07BA}" type="pres">
      <dgm:prSet presAssocID="{73430043-3616-490C-A16D-0F05BD3301B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0606815-177C-47F5-8AC9-B6220A1BA800}" type="pres">
      <dgm:prSet presAssocID="{73430043-3616-490C-A16D-0F05BD3301B0}" presName="spaceRect" presStyleCnt="0"/>
      <dgm:spPr/>
    </dgm:pt>
    <dgm:pt modelId="{D01A5BBF-A46B-4228-AE12-8B361829ACAA}" type="pres">
      <dgm:prSet presAssocID="{73430043-3616-490C-A16D-0F05BD3301B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1DA1109-4D09-46EA-A157-76E05B97BCAA}" srcId="{1ADA79C5-6EC7-45A9-9DCB-0BCA11047F1F}" destId="{00799A7F-A7D0-4EF2-BD1D-F7A153524F11}" srcOrd="1" destOrd="0" parTransId="{A7B13D74-A62B-4207-A1AE-74BBD222D4DD}" sibTransId="{4871D83F-9041-4E58-92EF-2A73308BE8A9}"/>
    <dgm:cxn modelId="{C1F6CE63-4A3B-441B-90CD-A2DC8F1EA23B}" type="presOf" srcId="{1ADA79C5-6EC7-45A9-9DCB-0BCA11047F1F}" destId="{F809B53D-D556-4739-823E-899347C566E2}" srcOrd="0" destOrd="0" presId="urn:microsoft.com/office/officeart/2018/2/layout/IconVerticalSolidList"/>
    <dgm:cxn modelId="{D68E4F49-02EA-49F7-B931-62DADF5161BA}" srcId="{1ADA79C5-6EC7-45A9-9DCB-0BCA11047F1F}" destId="{73430043-3616-490C-A16D-0F05BD3301B0}" srcOrd="2" destOrd="0" parTransId="{BCA94751-95A3-4CE7-9BB0-40EFD38F5955}" sibTransId="{C3BAD0A7-0B2D-4B07-814B-9E2AD88AC653}"/>
    <dgm:cxn modelId="{7BAC494F-B42E-4A93-A644-43DF3B762A9B}" type="presOf" srcId="{00799A7F-A7D0-4EF2-BD1D-F7A153524F11}" destId="{B6CE034E-1242-47BB-884E-725F779112E9}" srcOrd="0" destOrd="0" presId="urn:microsoft.com/office/officeart/2018/2/layout/IconVerticalSolidList"/>
    <dgm:cxn modelId="{B06F098D-162C-4304-A547-8C15C95D709B}" type="presOf" srcId="{73430043-3616-490C-A16D-0F05BD3301B0}" destId="{D01A5BBF-A46B-4228-AE12-8B361829ACAA}" srcOrd="0" destOrd="0" presId="urn:microsoft.com/office/officeart/2018/2/layout/IconVerticalSolidList"/>
    <dgm:cxn modelId="{21D823D9-9D6C-4A58-A3A9-6E3A47B277D3}" srcId="{1ADA79C5-6EC7-45A9-9DCB-0BCA11047F1F}" destId="{52DAC0B6-A29B-4BB4-9A08-D5356C1DAABD}" srcOrd="0" destOrd="0" parTransId="{880AE60A-93C9-4B94-B3B3-FFEB321D023F}" sibTransId="{77F5E94E-06AF-4D30-AF18-03752D9EE967}"/>
    <dgm:cxn modelId="{7D939BE0-9512-433D-9E79-CACEEC7EE247}" type="presOf" srcId="{52DAC0B6-A29B-4BB4-9A08-D5356C1DAABD}" destId="{94D1009E-F6BC-431E-A7ED-E8145719D89A}" srcOrd="0" destOrd="0" presId="urn:microsoft.com/office/officeart/2018/2/layout/IconVerticalSolidList"/>
    <dgm:cxn modelId="{37F095D0-11B2-4773-899A-9F7710AE73AC}" type="presParOf" srcId="{F809B53D-D556-4739-823E-899347C566E2}" destId="{32352263-5C4B-427F-BCB7-3D2DF3F1FB64}" srcOrd="0" destOrd="0" presId="urn:microsoft.com/office/officeart/2018/2/layout/IconVerticalSolidList"/>
    <dgm:cxn modelId="{19C11A8C-2015-436F-88D3-0E995CE6EF2A}" type="presParOf" srcId="{32352263-5C4B-427F-BCB7-3D2DF3F1FB64}" destId="{AD157BC0-5984-4062-B87F-7CAF0AB4AC38}" srcOrd="0" destOrd="0" presId="urn:microsoft.com/office/officeart/2018/2/layout/IconVerticalSolidList"/>
    <dgm:cxn modelId="{7C8371E6-DA51-4326-921A-2E8024A4E367}" type="presParOf" srcId="{32352263-5C4B-427F-BCB7-3D2DF3F1FB64}" destId="{639795F6-0DD4-442A-B570-42F700B0658E}" srcOrd="1" destOrd="0" presId="urn:microsoft.com/office/officeart/2018/2/layout/IconVerticalSolidList"/>
    <dgm:cxn modelId="{4D717234-57CE-4928-9AAC-6EF682ADD826}" type="presParOf" srcId="{32352263-5C4B-427F-BCB7-3D2DF3F1FB64}" destId="{06A3FA5D-5CEC-4706-9201-B2BB1AA8929F}" srcOrd="2" destOrd="0" presId="urn:microsoft.com/office/officeart/2018/2/layout/IconVerticalSolidList"/>
    <dgm:cxn modelId="{66107AF6-6DB1-4339-AFDD-33F4C1845D30}" type="presParOf" srcId="{32352263-5C4B-427F-BCB7-3D2DF3F1FB64}" destId="{94D1009E-F6BC-431E-A7ED-E8145719D89A}" srcOrd="3" destOrd="0" presId="urn:microsoft.com/office/officeart/2018/2/layout/IconVerticalSolidList"/>
    <dgm:cxn modelId="{1AC9BAFF-B954-401D-B385-C4BA4D9ED352}" type="presParOf" srcId="{F809B53D-D556-4739-823E-899347C566E2}" destId="{9AE3695F-7DF5-4308-8E5D-5B4F2374D78D}" srcOrd="1" destOrd="0" presId="urn:microsoft.com/office/officeart/2018/2/layout/IconVerticalSolidList"/>
    <dgm:cxn modelId="{51C10FDB-8921-4156-87D8-45452956EAD5}" type="presParOf" srcId="{F809B53D-D556-4739-823E-899347C566E2}" destId="{0D95E57E-1C4D-4924-9997-9E553CC72CFF}" srcOrd="2" destOrd="0" presId="urn:microsoft.com/office/officeart/2018/2/layout/IconVerticalSolidList"/>
    <dgm:cxn modelId="{44153A79-81F4-4CD2-BF73-10E42E7D3D5E}" type="presParOf" srcId="{0D95E57E-1C4D-4924-9997-9E553CC72CFF}" destId="{C303AAA3-5851-469B-B077-236409E34162}" srcOrd="0" destOrd="0" presId="urn:microsoft.com/office/officeart/2018/2/layout/IconVerticalSolidList"/>
    <dgm:cxn modelId="{FAD2B2A0-7CFF-40D6-B359-709C3146C04A}" type="presParOf" srcId="{0D95E57E-1C4D-4924-9997-9E553CC72CFF}" destId="{B5301436-10BD-4B80-9F29-E9F6A21F4CBB}" srcOrd="1" destOrd="0" presId="urn:microsoft.com/office/officeart/2018/2/layout/IconVerticalSolidList"/>
    <dgm:cxn modelId="{580F5906-E816-4CA1-995A-74BB9B7BEE11}" type="presParOf" srcId="{0D95E57E-1C4D-4924-9997-9E553CC72CFF}" destId="{4E9F9786-5D65-4CF7-A694-3A4B1FA905E6}" srcOrd="2" destOrd="0" presId="urn:microsoft.com/office/officeart/2018/2/layout/IconVerticalSolidList"/>
    <dgm:cxn modelId="{2CCAF76D-3687-4276-B36B-AD379EA05D9D}" type="presParOf" srcId="{0D95E57E-1C4D-4924-9997-9E553CC72CFF}" destId="{B6CE034E-1242-47BB-884E-725F779112E9}" srcOrd="3" destOrd="0" presId="urn:microsoft.com/office/officeart/2018/2/layout/IconVerticalSolidList"/>
    <dgm:cxn modelId="{54DC7A5C-2163-4B63-9CBA-1FFA8F85FC3E}" type="presParOf" srcId="{F809B53D-D556-4739-823E-899347C566E2}" destId="{BB3E3401-AB73-4325-9E35-2100838574E9}" srcOrd="3" destOrd="0" presId="urn:microsoft.com/office/officeart/2018/2/layout/IconVerticalSolidList"/>
    <dgm:cxn modelId="{78DD4CE2-7CE3-4FBF-9BB8-A0F3E687856C}" type="presParOf" srcId="{F809B53D-D556-4739-823E-899347C566E2}" destId="{9ED6111B-36C4-4704-9952-4A46A23048D3}" srcOrd="4" destOrd="0" presId="urn:microsoft.com/office/officeart/2018/2/layout/IconVerticalSolidList"/>
    <dgm:cxn modelId="{012E486C-5B07-4482-82EF-052C20364FE7}" type="presParOf" srcId="{9ED6111B-36C4-4704-9952-4A46A23048D3}" destId="{4C574011-2BFC-4CAF-8528-8B5188503675}" srcOrd="0" destOrd="0" presId="urn:microsoft.com/office/officeart/2018/2/layout/IconVerticalSolidList"/>
    <dgm:cxn modelId="{B973C4A3-EC06-4AEF-B157-1D1D43C844D1}" type="presParOf" srcId="{9ED6111B-36C4-4704-9952-4A46A23048D3}" destId="{762A72B9-EBE2-49B2-988B-2695FDFA07BA}" srcOrd="1" destOrd="0" presId="urn:microsoft.com/office/officeart/2018/2/layout/IconVerticalSolidList"/>
    <dgm:cxn modelId="{18E523FE-7B39-420F-B712-9CFCD564ED48}" type="presParOf" srcId="{9ED6111B-36C4-4704-9952-4A46A23048D3}" destId="{60606815-177C-47F5-8AC9-B6220A1BA800}" srcOrd="2" destOrd="0" presId="urn:microsoft.com/office/officeart/2018/2/layout/IconVerticalSolidList"/>
    <dgm:cxn modelId="{4338A6C0-6C13-47F7-B45A-9B96E19294E6}" type="presParOf" srcId="{9ED6111B-36C4-4704-9952-4A46A23048D3}" destId="{D01A5BBF-A46B-4228-AE12-8B361829AC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FBCD62-8D2E-4152-BB80-F30274BBA02F}">
      <dsp:nvSpPr>
        <dsp:cNvPr id="0" name=""/>
        <dsp:cNvSpPr/>
      </dsp:nvSpPr>
      <dsp:spPr>
        <a:xfrm>
          <a:off x="920893" y="887962"/>
          <a:ext cx="1249769" cy="12497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14690-6B41-41C5-BB34-8EC4AFC897E0}">
      <dsp:nvSpPr>
        <dsp:cNvPr id="0" name=""/>
        <dsp:cNvSpPr/>
      </dsp:nvSpPr>
      <dsp:spPr>
        <a:xfrm>
          <a:off x="157144" y="2485519"/>
          <a:ext cx="2777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No real-time shared document or git.</a:t>
          </a:r>
          <a:endParaRPr lang="en-US" sz="1300" kern="1200"/>
        </a:p>
      </dsp:txBody>
      <dsp:txXfrm>
        <a:off x="157144" y="2485519"/>
        <a:ext cx="2777266" cy="720000"/>
      </dsp:txXfrm>
    </dsp:sp>
    <dsp:sp modelId="{51A1130D-F731-46D2-AD7F-B4FD7ECC6973}">
      <dsp:nvSpPr>
        <dsp:cNvPr id="0" name=""/>
        <dsp:cNvSpPr/>
      </dsp:nvSpPr>
      <dsp:spPr>
        <a:xfrm>
          <a:off x="4184181" y="887962"/>
          <a:ext cx="1249769" cy="12497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41C52-6A6C-4C44-BB45-08771551BE97}">
      <dsp:nvSpPr>
        <dsp:cNvPr id="0" name=""/>
        <dsp:cNvSpPr/>
      </dsp:nvSpPr>
      <dsp:spPr>
        <a:xfrm>
          <a:off x="3420433" y="2485519"/>
          <a:ext cx="2777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Data are very large which made some scripts very very long to run (~3 hours for the longest one)</a:t>
          </a:r>
          <a:endParaRPr lang="en-US" sz="1300" kern="1200"/>
        </a:p>
      </dsp:txBody>
      <dsp:txXfrm>
        <a:off x="3420433" y="2485519"/>
        <a:ext cx="2777266" cy="720000"/>
      </dsp:txXfrm>
    </dsp:sp>
    <dsp:sp modelId="{12F49C65-097B-45B8-B9B6-5F57ED66A3E4}">
      <dsp:nvSpPr>
        <dsp:cNvPr id="0" name=""/>
        <dsp:cNvSpPr/>
      </dsp:nvSpPr>
      <dsp:spPr>
        <a:xfrm>
          <a:off x="7447469" y="887962"/>
          <a:ext cx="1249769" cy="12497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82A96A-36FD-4184-B8E7-4C0624002130}">
      <dsp:nvSpPr>
        <dsp:cNvPr id="0" name=""/>
        <dsp:cNvSpPr/>
      </dsp:nvSpPr>
      <dsp:spPr>
        <a:xfrm>
          <a:off x="6683721" y="2485519"/>
          <a:ext cx="2777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Often ended up « re-pre-process » the data for later Tasks as we didn’t get some specific characteristics previously.</a:t>
          </a:r>
          <a:endParaRPr lang="en-US" sz="1300" kern="1200"/>
        </a:p>
      </dsp:txBody>
      <dsp:txXfrm>
        <a:off x="6683721" y="2485519"/>
        <a:ext cx="2777266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57BC0-5984-4062-B87F-7CAF0AB4AC38}">
      <dsp:nvSpPr>
        <dsp:cNvPr id="0" name=""/>
        <dsp:cNvSpPr/>
      </dsp:nvSpPr>
      <dsp:spPr>
        <a:xfrm>
          <a:off x="0" y="499"/>
          <a:ext cx="9618133" cy="11692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9795F6-0DD4-442A-B570-42F700B0658E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D1009E-F6BC-431E-A7ED-E8145719D89A}">
      <dsp:nvSpPr>
        <dsp:cNvPr id="0" name=""/>
        <dsp:cNvSpPr/>
      </dsp:nvSpPr>
      <dsp:spPr>
        <a:xfrm>
          <a:off x="1350519" y="499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Mainly finishing the report.</a:t>
          </a:r>
          <a:endParaRPr lang="en-US" sz="2500" kern="1200"/>
        </a:p>
      </dsp:txBody>
      <dsp:txXfrm>
        <a:off x="1350519" y="499"/>
        <a:ext cx="8267613" cy="1169280"/>
      </dsp:txXfrm>
    </dsp:sp>
    <dsp:sp modelId="{C303AAA3-5851-469B-B077-236409E34162}">
      <dsp:nvSpPr>
        <dsp:cNvPr id="0" name=""/>
        <dsp:cNvSpPr/>
      </dsp:nvSpPr>
      <dsp:spPr>
        <a:xfrm>
          <a:off x="0" y="1462100"/>
          <a:ext cx="9618133" cy="11692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301436-10BD-4B80-9F29-E9F6A21F4CBB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E034E-1242-47BB-884E-725F779112E9}">
      <dsp:nvSpPr>
        <dsp:cNvPr id="0" name=""/>
        <dsp:cNvSpPr/>
      </dsp:nvSpPr>
      <dsp:spPr>
        <a:xfrm>
          <a:off x="1350519" y="1462100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Maybe try to cleanup the code and make the data pre-processing more optimized</a:t>
          </a:r>
          <a:endParaRPr lang="en-US" sz="2500" kern="1200"/>
        </a:p>
      </dsp:txBody>
      <dsp:txXfrm>
        <a:off x="1350519" y="1462100"/>
        <a:ext cx="8267613" cy="1169280"/>
      </dsp:txXfrm>
    </dsp:sp>
    <dsp:sp modelId="{4C574011-2BFC-4CAF-8528-8B5188503675}">
      <dsp:nvSpPr>
        <dsp:cNvPr id="0" name=""/>
        <dsp:cNvSpPr/>
      </dsp:nvSpPr>
      <dsp:spPr>
        <a:xfrm>
          <a:off x="0" y="2923701"/>
          <a:ext cx="9618133" cy="11692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A72B9-EBE2-49B2-988B-2695FDFA07BA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A5BBF-A46B-4228-AE12-8B361829ACAA}">
      <dsp:nvSpPr>
        <dsp:cNvPr id="0" name=""/>
        <dsp:cNvSpPr/>
      </dsp:nvSpPr>
      <dsp:spPr>
        <a:xfrm>
          <a:off x="1350519" y="2923701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Confronting our results to other research papers</a:t>
          </a:r>
          <a:endParaRPr lang="en-US" sz="2500" kern="1200"/>
        </a:p>
      </dsp:txBody>
      <dsp:txXfrm>
        <a:off x="1350519" y="2923701"/>
        <a:ext cx="8267613" cy="1169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sz="4400" b="0" strike="noStrike" spc="-1">
                <a:solidFill>
                  <a:srgbClr val="000000"/>
                </a:solidFill>
                <a:latin typeface="Arial"/>
              </a:rPr>
              <a:t>Cliquez pour déplacer la diapo</a:t>
            </a: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2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258" name="PlaceHolder 4"/>
          <p:cNvSpPr>
            <a:spLocks noGrp="1"/>
          </p:cNvSpPr>
          <p:nvPr>
            <p:ph type="dt" idx="4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259" name="PlaceHolder 5"/>
          <p:cNvSpPr>
            <a:spLocks noGrp="1"/>
          </p:cNvSpPr>
          <p:nvPr>
            <p:ph type="ftr" idx="5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260" name="PlaceHolder 6"/>
          <p:cNvSpPr>
            <a:spLocks noGrp="1"/>
          </p:cNvSpPr>
          <p:nvPr>
            <p:ph type="sldNum" idx="5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233C1B3-1679-47CE-8473-074D45C0A2D4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‹Nr.›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F9F02A4-7863-43FC-A811-B00DDE5762EA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fr-F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EF1960A-D12C-477D-AB32-54A99015F9B6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C3DBDC9-E39E-4BF7-9167-97B41D1DE02B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27A28064-03D4-4BB6-806F-09772C81C85F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09FBA69-28A3-44A2-9994-E1DC5E7B6FE8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9049BED7-FA04-4A42-B422-C3D7306FF6AD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B3F253D6-B86B-4EC6-A835-B5E02AE229CF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DB744CED-3AD2-4A86-99CF-8C691EE17C95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866E9430-1CFF-4646-8934-D95E22090C14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F8096BBF-F6FD-4AE1-BC1E-CFB1A87003DA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75E28D8B-C4BA-4101-9FCC-2C2CA80F301D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6FC89CB4-2AD0-4EE1-930B-6FB876A1CB5A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49AC11EE-4C54-4BDC-809C-7FCA464C3F98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5219A954-CB53-495D-B8C6-205FA5F5D899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0F2C67EA-32A9-4F69-92DF-85E81FFBD25F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19340528-9B28-48C8-9EA0-42D906BAEDBD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lstStyle/>
          <a:p>
            <a:fld id="{7DB6308A-3BDE-469A-B9DE-BD68DC46153B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8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2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3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5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9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0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grpSp>
        <p:nvGrpSpPr>
          <p:cNvPr id="11" name="Group 6"/>
          <p:cNvGrpSpPr/>
          <p:nvPr/>
        </p:nvGrpSpPr>
        <p:grpSpPr>
          <a:xfrm>
            <a:off x="720" y="-8640"/>
            <a:ext cx="12190680" cy="6867000"/>
            <a:chOff x="720" y="-8640"/>
            <a:chExt cx="12190680" cy="6867000"/>
          </a:xfrm>
        </p:grpSpPr>
        <p:cxnSp>
          <p:nvCxnSpPr>
            <p:cNvPr id="12" name="Straight Connector 31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13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14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6" name="Isosceles Triangle 26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7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8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9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0" name="Isosceles Triangle 30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1" name="Isosceles Triangle 18"/>
            <p:cNvSpPr/>
            <p:nvPr/>
          </p:nvSpPr>
          <p:spPr>
            <a:xfrm rot="10800000">
              <a:off x="720" y="720"/>
              <a:ext cx="842040" cy="56653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Cliquez pour éditer le format du texte-titre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C97189F-2725-4AD0-B866-36EA57804125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solidFill>
                  <a:srgbClr val="000000"/>
                </a:solidFill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strike="noStrike" spc="-1">
                <a:solidFill>
                  <a:srgbClr val="000000"/>
                </a:solidFill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solidFill>
                  <a:srgbClr val="000000"/>
                </a:solidFill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30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31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32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33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34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35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36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37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38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39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40" name="PlaceHolder 1"/>
          <p:cNvSpPr>
            <a:spLocks noGrp="1"/>
          </p:cNvSpPr>
          <p:nvPr>
            <p:ph type="ftr" idx="4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sldNum" idx="5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4C33612-7D05-41FD-A1EE-E1EC697A5D24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6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44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45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46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47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48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49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50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51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52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53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54" name="TextBox 19"/>
          <p:cNvSpPr/>
          <p:nvPr/>
        </p:nvSpPr>
        <p:spPr>
          <a:xfrm>
            <a:off x="541800" y="790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 lang="fr-FR" sz="8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21"/>
          <p:cNvSpPr/>
          <p:nvPr/>
        </p:nvSpPr>
        <p:spPr>
          <a:xfrm>
            <a:off x="8893080" y="288648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fr-FR" sz="8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ftr" idx="7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sldNum" idx="8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5F2182C-F73C-40C6-B03C-614E7C5D138B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9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60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61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62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63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64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65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66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67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68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69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70" name="PlaceHolder 1"/>
          <p:cNvSpPr>
            <a:spLocks noGrp="1"/>
          </p:cNvSpPr>
          <p:nvPr>
            <p:ph type="ftr" idx="10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sldNum" idx="11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AD223F-8096-46FA-8B44-0F4CE2364ABE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dt" idx="12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74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75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76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77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78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79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80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81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82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83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84" name="TextBox 23"/>
          <p:cNvSpPr/>
          <p:nvPr/>
        </p:nvSpPr>
        <p:spPr>
          <a:xfrm>
            <a:off x="541800" y="790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 lang="fr-FR" sz="8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24"/>
          <p:cNvSpPr/>
          <p:nvPr/>
        </p:nvSpPr>
        <p:spPr>
          <a:xfrm>
            <a:off x="8893080" y="288648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fr-FR" sz="8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ftr" idx="13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87" name="PlaceHolder 2"/>
          <p:cNvSpPr>
            <a:spLocks noGrp="1"/>
          </p:cNvSpPr>
          <p:nvPr>
            <p:ph type="sldNum" idx="14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C80C2DD-6B7F-4408-A22C-27A36EA9A2AD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dt" idx="15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90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91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92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93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94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95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96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97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98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99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00" name="PlaceHolder 1"/>
          <p:cNvSpPr>
            <a:spLocks noGrp="1"/>
          </p:cNvSpPr>
          <p:nvPr>
            <p:ph type="ftr" idx="16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101" name="PlaceHolder 2"/>
          <p:cNvSpPr>
            <a:spLocks noGrp="1"/>
          </p:cNvSpPr>
          <p:nvPr>
            <p:ph type="sldNum" idx="17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DC76623-A836-4F57-A964-20EE1F50C72B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dt" idx="18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04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105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106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07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08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09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10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11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12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13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14" name="PlaceHolder 1"/>
          <p:cNvSpPr>
            <a:spLocks noGrp="1"/>
          </p:cNvSpPr>
          <p:nvPr>
            <p:ph type="ftr" idx="19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sldNum" idx="20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EF44FCE-436F-4C98-9E72-254EFD2E1F31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21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18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119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120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1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2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3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4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5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6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7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28" name="PlaceHolder 1"/>
          <p:cNvSpPr>
            <a:spLocks noGrp="1"/>
          </p:cNvSpPr>
          <p:nvPr>
            <p:ph type="ftr" idx="22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129" name="PlaceHolder 2"/>
          <p:cNvSpPr>
            <a:spLocks noGrp="1"/>
          </p:cNvSpPr>
          <p:nvPr>
            <p:ph type="sldNum" idx="23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64109A0-9F56-4F14-95D6-F6953681FA80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dt" idx="24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32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133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134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35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36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37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38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39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40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41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Cliquez pour éditer le format du texte-titre</a:t>
            </a: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Septième niveau de plan</a:t>
            </a:r>
          </a:p>
        </p:txBody>
      </p:sp>
      <p:sp>
        <p:nvSpPr>
          <p:cNvPr id="144" name="PlaceHolder 3"/>
          <p:cNvSpPr>
            <a:spLocks noGrp="1"/>
          </p:cNvSpPr>
          <p:nvPr>
            <p:ph type="ftr" idx="25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145" name="PlaceHolder 4"/>
          <p:cNvSpPr>
            <a:spLocks noGrp="1"/>
          </p:cNvSpPr>
          <p:nvPr>
            <p:ph type="sldNum" idx="26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F9F6380-6C19-436C-B9E7-E8B4A989C411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dt" idx="27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50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151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152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3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4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5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6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7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8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9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60" name="PlaceHolder 1"/>
          <p:cNvSpPr>
            <a:spLocks noGrp="1"/>
          </p:cNvSpPr>
          <p:nvPr>
            <p:ph type="ftr" idx="28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161" name="PlaceHolder 2"/>
          <p:cNvSpPr>
            <a:spLocks noGrp="1"/>
          </p:cNvSpPr>
          <p:nvPr>
            <p:ph type="sldNum" idx="29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DCE8647-24F2-4409-8D43-FDECE6797874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dt" idx="30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64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165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166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67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68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69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70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71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72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73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Cliquez pour éditer le format du texte-titre</a:t>
            </a: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943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3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Septième niveau de plan</a:t>
            </a: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5082120" y="2160720"/>
            <a:ext cx="41943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3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Septième niveau de plan</a:t>
            </a:r>
          </a:p>
        </p:txBody>
      </p:sp>
      <p:sp>
        <p:nvSpPr>
          <p:cNvPr id="177" name="PlaceHolder 4"/>
          <p:cNvSpPr>
            <a:spLocks noGrp="1"/>
          </p:cNvSpPr>
          <p:nvPr>
            <p:ph type="ftr" idx="31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178" name="PlaceHolder 5"/>
          <p:cNvSpPr>
            <a:spLocks noGrp="1"/>
          </p:cNvSpPr>
          <p:nvPr>
            <p:ph type="sldNum" idx="32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5AE34D5-5EBC-4101-BB77-195C7395CA76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PlaceHolder 6"/>
          <p:cNvSpPr>
            <a:spLocks noGrp="1"/>
          </p:cNvSpPr>
          <p:nvPr>
            <p:ph type="dt" idx="33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84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185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186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87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88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89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90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91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92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93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94" name="PlaceHolder 1"/>
          <p:cNvSpPr>
            <a:spLocks noGrp="1"/>
          </p:cNvSpPr>
          <p:nvPr>
            <p:ph type="ftr" idx="34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195" name="PlaceHolder 2"/>
          <p:cNvSpPr>
            <a:spLocks noGrp="1"/>
          </p:cNvSpPr>
          <p:nvPr>
            <p:ph type="sldNum" idx="35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8AAF291-29FF-41D1-BE3A-09791C6717C8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dt" idx="36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98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199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200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01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02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03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04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05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06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07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Cliquez pour éditer le format du texte-titre</a:t>
            </a:r>
          </a:p>
        </p:txBody>
      </p:sp>
      <p:sp>
        <p:nvSpPr>
          <p:cNvPr id="209" name="PlaceHolder 2"/>
          <p:cNvSpPr>
            <a:spLocks noGrp="1"/>
          </p:cNvSpPr>
          <p:nvPr>
            <p:ph type="ftr" idx="37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210" name="PlaceHolder 3"/>
          <p:cNvSpPr>
            <a:spLocks noGrp="1"/>
          </p:cNvSpPr>
          <p:nvPr>
            <p:ph type="sldNum" idx="38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2229FE1-78F2-4161-9416-EB278FB34682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dt" idx="39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14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215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216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17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18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19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20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21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22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23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224" name="PlaceHolder 1"/>
          <p:cNvSpPr>
            <a:spLocks noGrp="1"/>
          </p:cNvSpPr>
          <p:nvPr>
            <p:ph type="ftr" idx="40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225" name="PlaceHolder 2"/>
          <p:cNvSpPr>
            <a:spLocks noGrp="1"/>
          </p:cNvSpPr>
          <p:nvPr>
            <p:ph type="sldNum" idx="41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A0923F9-1B94-4550-8AC2-78F43942E599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dt" idx="42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28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229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230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31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32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33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34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35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36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37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238" name="PlaceHolder 1"/>
          <p:cNvSpPr>
            <a:spLocks noGrp="1"/>
          </p:cNvSpPr>
          <p:nvPr>
            <p:ph type="ftr" idx="43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239" name="PlaceHolder 2"/>
          <p:cNvSpPr>
            <a:spLocks noGrp="1"/>
          </p:cNvSpPr>
          <p:nvPr>
            <p:ph type="sldNum" idx="44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50A80B8-7CBD-4F2F-BDB0-EA4AD0D188E9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dt" idx="45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42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BFBFBF"/>
              </a:solidFill>
              <a:round/>
            </a:ln>
          </p:spPr>
        </p:cxnSp>
        <p:cxnSp>
          <p:nvCxnSpPr>
            <p:cNvPr id="243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D9D9D9"/>
              </a:solidFill>
              <a:round/>
            </a:ln>
          </p:spPr>
        </p:cxnSp>
        <p:sp>
          <p:nvSpPr>
            <p:cNvPr id="244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45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46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47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48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49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50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51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fr-FR" sz="1800" b="0" strike="noStrike" spc="-1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252" name="PlaceHolder 1"/>
          <p:cNvSpPr>
            <a:spLocks noGrp="1"/>
          </p:cNvSpPr>
          <p:nvPr>
            <p:ph type="ftr" idx="46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253" name="PlaceHolder 2"/>
          <p:cNvSpPr>
            <a:spLocks noGrp="1"/>
          </p:cNvSpPr>
          <p:nvPr>
            <p:ph type="sldNum" idx="47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GB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936869A-FF1B-47BC-8BF2-4E1ECF23502B}" type="slidenum">
              <a:rPr lang="en-GB" sz="900" b="0" strike="noStrike" spc="-1">
                <a:solidFill>
                  <a:schemeClr val="accent1"/>
                </a:solidFill>
                <a:latin typeface="Trebuchet MS"/>
              </a:rPr>
              <a:t>‹Nr.›</a:t>
            </a:fld>
            <a:endParaRPr lang="fr-F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dt" idx="48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280" cy="164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400" b="0" strike="noStrike" spc="-1">
                <a:solidFill>
                  <a:schemeClr val="accent1"/>
                </a:solidFill>
                <a:latin typeface="Trebuchet MS"/>
              </a:rPr>
              <a:t>Project 5: Zipf’s Law distribution of Finnish Wikipedia Corpus. </a:t>
            </a:r>
            <a:endParaRPr lang="fr-FR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subTitle"/>
          </p:nvPr>
        </p:nvSpPr>
        <p:spPr>
          <a:xfrm>
            <a:off x="1506960" y="4050720"/>
            <a:ext cx="7766280" cy="109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Tobias Westphal, </a:t>
            </a:r>
            <a:r>
              <a:rPr lang="en-GB" sz="18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Mathis Patigny, and Clément Richard 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strike="noStrike" spc="-1">
                <a:solidFill>
                  <a:schemeClr val="accent1"/>
                </a:solidFill>
                <a:latin typeface="Trebuchet MS"/>
              </a:rPr>
              <a:t>Share of Work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Tobias Westphal: Tasks 1-4, </a:t>
            </a: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report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Clément Richard: Tasks 5-9, </a:t>
            </a: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report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Mathis </a:t>
            </a: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Patigny</a:t>
            </a: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: Tasks 10-11, </a:t>
            </a: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report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strike="noStrike" spc="-1">
                <a:solidFill>
                  <a:schemeClr val="accent1"/>
                </a:solidFill>
                <a:latin typeface="Trebuchet MS"/>
              </a:rPr>
              <a:t>Zipf‘s Law 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3956760" cy="374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de-DE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For set of measurements sorted in decreasing order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GB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value of the </a:t>
            </a:r>
            <a:r>
              <a:rPr lang="en-GB" sz="16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</a:t>
            </a:r>
            <a:r>
              <a:rPr lang="en-GB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-th entry is approximately inversely proportional to </a:t>
            </a:r>
            <a:r>
              <a:rPr lang="en-GB" sz="16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</a:t>
            </a:r>
            <a:endParaRPr lang="fr-FR" sz="16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fr-FR" sz="16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fr-FR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GB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Rank and frequency appear as straight line on log-log scale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Grafik 4" descr="Ein Bild, das Text, Diagramm, Reihe, Screenshot enthält.&#10;&#10;KI-generierte Inhalte können fehlerhaft sein."/>
          <p:cNvPicPr/>
          <p:nvPr/>
        </p:nvPicPr>
        <p:blipFill>
          <a:blip r:embed="rId3"/>
          <a:stretch/>
        </p:blipFill>
        <p:spPr>
          <a:xfrm>
            <a:off x="4987080" y="2159280"/>
            <a:ext cx="4204440" cy="3152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strike="noStrike" spc="-1">
                <a:solidFill>
                  <a:schemeClr val="accent1"/>
                </a:solidFill>
                <a:latin typeface="Trebuchet MS"/>
              </a:rPr>
              <a:t>Finnish Wikipedia Corpus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This </a:t>
            </a: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projects</a:t>
            </a: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</a:t>
            </a: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basis</a:t>
            </a: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</a:t>
            </a: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for</a:t>
            </a: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</a:t>
            </a: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testing</a:t>
            </a: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</a:t>
            </a: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of</a:t>
            </a: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</a:t>
            </a: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Zipf‘s</a:t>
            </a: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</a:t>
            </a: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law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Provided</a:t>
            </a: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</a:t>
            </a: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</a:t>
            </a: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66 .VRT </a:t>
            </a: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files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Contains</a:t>
            </a: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</a:t>
            </a:r>
            <a:r>
              <a:rPr lang="en-GB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425,506 pages and ~83,300,000 tokens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GB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Each page tokenized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GB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Tokens annotated via </a:t>
            </a:r>
            <a:r>
              <a:rPr lang="en-GB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CoNLL</a:t>
            </a:r>
            <a:r>
              <a:rPr lang="en-GB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-U format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GB" sz="16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ID, FORM, LEMMA, UPOS, XPOS, FEATS, HEAD, DEPREL, DEPS, MISC</a:t>
            </a:r>
            <a:endParaRPr lang="fr-FR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strike="noStrike" spc="-1">
                <a:solidFill>
                  <a:schemeClr val="accent1"/>
                </a:solidFill>
                <a:latin typeface="Trebuchet MS"/>
              </a:rPr>
              <a:t>Corpus access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de-DE" sz="1800" b="0" strike="noStrike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de-DE" sz="1800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de-DE" sz="1800" b="0" strike="noStrike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de-DE" sz="1800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de-DE" sz="1800" b="0" strike="noStrike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.VRT </a:t>
            </a: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files</a:t>
            </a: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</a:t>
            </a:r>
            <a:r>
              <a:rPr lang="de-DE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parsed</a:t>
            </a:r>
            <a:r>
              <a:rPr lang="de-DE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</a:t>
            </a:r>
            <a:r>
              <a:rPr lang="en-GB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to create </a:t>
            </a:r>
            <a:r>
              <a:rPr lang="en-GB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dataframe</a:t>
            </a:r>
            <a:r>
              <a:rPr lang="en-GB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from </a:t>
            </a:r>
            <a:r>
              <a:rPr lang="en-GB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CoNLL</a:t>
            </a:r>
            <a:r>
              <a:rPr lang="en-GB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-U table content 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GB" sz="16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Parsing done per file</a:t>
            </a:r>
            <a:endParaRPr lang="fr-FR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GB" sz="16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Resulting </a:t>
            </a:r>
            <a:r>
              <a:rPr lang="en-GB" sz="16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dataframes</a:t>
            </a:r>
            <a:r>
              <a:rPr lang="en-GB" sz="16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merged to one</a:t>
            </a:r>
            <a:endParaRPr lang="fr-FR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GB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Corpus </a:t>
            </a:r>
            <a:r>
              <a:rPr lang="en-GB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dataframe</a:t>
            </a:r>
            <a:r>
              <a:rPr lang="en-GB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saved as .parquet file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GB" sz="16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Faster access</a:t>
            </a:r>
            <a:endParaRPr lang="fr-FR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Grafik 2" descr="Ein Bild, das Text, 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01AB2E6A-3EF1-0BC6-BC84-DB57A2097E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040" y="1929600"/>
            <a:ext cx="6382319" cy="1964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strike="noStrike" spc="-1">
                <a:solidFill>
                  <a:schemeClr val="accent1"/>
                </a:solidFill>
                <a:latin typeface="Trebuchet MS"/>
              </a:rPr>
              <a:t>Linked Entity Counts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3" name="Inhaltsplatzhalter 4" descr="Ein Bild, das Text, Screenshot, Schrift, Reihe enthält.&#10;&#10;KI-generierte Inhalte können fehlerhaft sein."/>
          <p:cNvPicPr/>
          <p:nvPr/>
        </p:nvPicPr>
        <p:blipFill>
          <a:blip r:embed="rId2"/>
          <a:stretch/>
        </p:blipFill>
        <p:spPr>
          <a:xfrm>
            <a:off x="1894320" y="2278440"/>
            <a:ext cx="6162120" cy="923040"/>
          </a:xfrm>
          <a:prstGeom prst="rect">
            <a:avLst/>
          </a:prstGeom>
          <a:ln w="0">
            <a:noFill/>
          </a:ln>
        </p:spPr>
      </p:pic>
      <p:pic>
        <p:nvPicPr>
          <p:cNvPr id="274" name="Grafik 6" descr="Ein Bild, das Text, Screenshot, Schrift enthält.&#10;&#10;KI-generierte Inhalte können fehlerhaft sein."/>
          <p:cNvPicPr/>
          <p:nvPr/>
        </p:nvPicPr>
        <p:blipFill>
          <a:blip r:embed="rId3"/>
          <a:stretch/>
        </p:blipFill>
        <p:spPr>
          <a:xfrm>
            <a:off x="1894320" y="3549960"/>
            <a:ext cx="6162120" cy="1189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strike="noStrike" spc="-1">
                <a:solidFill>
                  <a:schemeClr val="accent1"/>
                </a:solidFill>
                <a:latin typeface="Trebuchet MS"/>
              </a:rPr>
              <a:t>Linked Entity Counts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6" name="Inhaltsplatzhalter 4" descr="Ein Bild, das Text, Screenshot, Buch, Schwarzweiß enthält.&#10;&#10;KI-generierte Inhalte können fehlerhaft sein."/>
          <p:cNvPicPr/>
          <p:nvPr/>
        </p:nvPicPr>
        <p:blipFill>
          <a:blip r:embed="rId2"/>
          <a:stretch/>
        </p:blipFill>
        <p:spPr>
          <a:xfrm>
            <a:off x="2718360" y="1930320"/>
            <a:ext cx="4514040" cy="3618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strike="noStrike" spc="-1">
                <a:solidFill>
                  <a:schemeClr val="accent1"/>
                </a:solidFill>
                <a:latin typeface="Trebuchet MS"/>
              </a:rPr>
              <a:t>Token Counts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8" name="Inhaltsplatzhalter 4" descr="Ein Bild, das Text, Screenshot, Schrift enthält.&#10;&#10;KI-generierte Inhalte können fehlerhaft sein."/>
          <p:cNvPicPr/>
          <p:nvPr/>
        </p:nvPicPr>
        <p:blipFill>
          <a:blip r:embed="rId2"/>
          <a:stretch/>
        </p:blipFill>
        <p:spPr>
          <a:xfrm>
            <a:off x="1908720" y="2762280"/>
            <a:ext cx="6133320" cy="1332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strike="noStrike" spc="-1">
                <a:solidFill>
                  <a:schemeClr val="accent1"/>
                </a:solidFill>
                <a:latin typeface="Trebuchet MS"/>
              </a:rPr>
              <a:t>Token Counts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0" name="Inhaltsplatzhalter 4" descr="Ein Bild, das Text, Screenshot, Buch, Schwarzweiß enthält.&#10;&#10;KI-generierte Inhalte können fehlerhaft sein."/>
          <p:cNvPicPr/>
          <p:nvPr/>
        </p:nvPicPr>
        <p:blipFill>
          <a:blip r:embed="rId2"/>
          <a:stretch/>
        </p:blipFill>
        <p:spPr>
          <a:xfrm>
            <a:off x="898920" y="1930320"/>
            <a:ext cx="4075920" cy="3647520"/>
          </a:xfrm>
          <a:prstGeom prst="rect">
            <a:avLst/>
          </a:prstGeom>
          <a:ln w="0">
            <a:noFill/>
          </a:ln>
        </p:spPr>
      </p:pic>
      <p:sp>
        <p:nvSpPr>
          <p:cNvPr id="281" name="Textfeld 5"/>
          <p:cNvSpPr/>
          <p:nvPr/>
        </p:nvSpPr>
        <p:spPr>
          <a:xfrm>
            <a:off x="5724000" y="1930320"/>
            <a:ext cx="2984040" cy="173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Minimum Nr. of Tokens observed on a Page: 1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Maximum Nr. of Tokens observed on a Page: 32864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strike="noStrike" spc="-1">
                <a:solidFill>
                  <a:schemeClr val="accent1"/>
                </a:solidFill>
                <a:latin typeface="Trebuchet MS"/>
              </a:rPr>
              <a:t>Token Counts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3" name="Inhaltsplatzhalter 4" descr="Ein Bild, das Text, Screenshot, Zahl, Diagramm enthält.&#10;&#10;KI-generierte Inhalte können fehlerhaft sein."/>
          <p:cNvPicPr/>
          <p:nvPr/>
        </p:nvPicPr>
        <p:blipFill>
          <a:blip r:embed="rId2"/>
          <a:stretch/>
        </p:blipFill>
        <p:spPr>
          <a:xfrm>
            <a:off x="1683360" y="1746360"/>
            <a:ext cx="6584040" cy="411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strike="noStrike" spc="-1">
                <a:solidFill>
                  <a:schemeClr val="accent1"/>
                </a:solidFill>
                <a:latin typeface="Trebuchet MS"/>
              </a:rPr>
              <a:t>Frequencies of Token Counts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5" name="Inhaltsplatzhalter 4" descr="Ein Bild, das Text, Screenshot, Reihe, Diagramm enthält.&#10;&#10;KI-generierte Inhalte können fehlerhaft sein."/>
          <p:cNvPicPr/>
          <p:nvPr/>
        </p:nvPicPr>
        <p:blipFill>
          <a:blip r:embed="rId2"/>
          <a:stretch/>
        </p:blipFill>
        <p:spPr>
          <a:xfrm>
            <a:off x="493560" y="1739160"/>
            <a:ext cx="6260760" cy="4110840"/>
          </a:xfrm>
          <a:prstGeom prst="rect">
            <a:avLst/>
          </a:prstGeom>
          <a:ln w="0">
            <a:noFill/>
          </a:ln>
        </p:spPr>
      </p:pic>
      <p:sp>
        <p:nvSpPr>
          <p:cNvPr id="286" name="Textfeld 5"/>
          <p:cNvSpPr/>
          <p:nvPr/>
        </p:nvSpPr>
        <p:spPr>
          <a:xfrm>
            <a:off x="6755040" y="2828880"/>
            <a:ext cx="2468880" cy="20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Observations outside 90% confidence bounds: 65.0%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800" b="0" strike="noStrike" spc="-1">
                <a:solidFill>
                  <a:schemeClr val="dk1"/>
                </a:solidFill>
                <a:latin typeface="Trebuchet MS"/>
              </a:rPr>
              <a:t>R</a:t>
            </a:r>
            <a:r>
              <a:rPr lang="de-DE" sz="1800" b="0" strike="noStrike" spc="-1" baseline="30000">
                <a:solidFill>
                  <a:schemeClr val="dk1"/>
                </a:solidFill>
                <a:latin typeface="Trebuchet MS"/>
              </a:rPr>
              <a:t>2</a:t>
            </a:r>
            <a:r>
              <a:rPr lang="de-DE" sz="1800" b="0" strike="noStrike" spc="-1">
                <a:solidFill>
                  <a:schemeClr val="dk1"/>
                </a:solidFill>
                <a:latin typeface="Trebuchet MS"/>
              </a:rPr>
              <a:t> ≈ </a:t>
            </a: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0.960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Adjusted </a:t>
            </a:r>
            <a:r>
              <a:rPr lang="de-DE" sz="1800" b="0" strike="noStrike" spc="-1">
                <a:solidFill>
                  <a:schemeClr val="dk1"/>
                </a:solidFill>
                <a:latin typeface="Trebuchet MS"/>
              </a:rPr>
              <a:t>R</a:t>
            </a:r>
            <a:r>
              <a:rPr lang="de-DE" sz="1800" b="0" strike="noStrike" spc="-1" baseline="30000">
                <a:solidFill>
                  <a:schemeClr val="dk1"/>
                </a:solidFill>
                <a:latin typeface="Trebuchet MS"/>
              </a:rPr>
              <a:t>2</a:t>
            </a:r>
            <a:r>
              <a:rPr lang="de-DE" sz="1800" b="0" strike="noStrike" spc="-1">
                <a:solidFill>
                  <a:schemeClr val="dk1"/>
                </a:solidFill>
                <a:latin typeface="Trebuchet MS"/>
              </a:rPr>
              <a:t> ≈ </a:t>
            </a: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0.958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strike="noStrike" spc="-1" dirty="0" err="1">
                <a:solidFill>
                  <a:schemeClr val="accent1"/>
                </a:solidFill>
                <a:latin typeface="Trebuchet MS"/>
              </a:rPr>
              <a:t>Curve</a:t>
            </a:r>
            <a:r>
              <a:rPr lang="de-DE" sz="3600" b="0" strike="noStrike" spc="-1" dirty="0">
                <a:solidFill>
                  <a:schemeClr val="accent1"/>
                </a:solidFill>
                <a:latin typeface="Trebuchet MS"/>
              </a:rPr>
              <a:t> </a:t>
            </a:r>
            <a:r>
              <a:rPr lang="de-DE" sz="3600" b="0" strike="noStrike" spc="-1" dirty="0" err="1">
                <a:solidFill>
                  <a:schemeClr val="accent1"/>
                </a:solidFill>
                <a:latin typeface="Trebuchet MS"/>
              </a:rPr>
              <a:t>to</a:t>
            </a:r>
            <a:r>
              <a:rPr lang="de-DE" sz="3600" b="0" strike="noStrike" spc="-1" dirty="0">
                <a:solidFill>
                  <a:schemeClr val="accent1"/>
                </a:solidFill>
                <a:latin typeface="Trebuchet MS"/>
              </a:rPr>
              <a:t> </a:t>
            </a:r>
            <a:r>
              <a:rPr lang="de-DE" sz="3600" b="0" strike="noStrike" spc="-1" dirty="0" err="1">
                <a:solidFill>
                  <a:schemeClr val="accent1"/>
                </a:solidFill>
                <a:latin typeface="Trebuchet MS"/>
              </a:rPr>
              <a:t>Histogram</a:t>
            </a:r>
            <a:r>
              <a:rPr lang="de-DE" sz="3600" b="0" strike="noStrike" spc="-1" dirty="0">
                <a:solidFill>
                  <a:schemeClr val="accent1"/>
                </a:solidFill>
                <a:latin typeface="Trebuchet MS"/>
              </a:rPr>
              <a:t> Fitting</a:t>
            </a: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8" name="Inhaltsplatzhalter 4" descr="Ein Bild, das Text, Screenshot, Diagramm, Zahl enthält.&#10;&#10;KI-generierte Inhalte können fehlerhaft sein."/>
          <p:cNvPicPr/>
          <p:nvPr/>
        </p:nvPicPr>
        <p:blipFill>
          <a:blip r:embed="rId2"/>
          <a:stretch/>
        </p:blipFill>
        <p:spPr>
          <a:xfrm>
            <a:off x="1683360" y="1756080"/>
            <a:ext cx="6584040" cy="411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3600" b="0" strike="noStrike" spc="-1" dirty="0">
                <a:solidFill>
                  <a:schemeClr val="accent1"/>
                </a:solidFill>
                <a:latin typeface="Trebuchet MS"/>
              </a:rPr>
              <a:t>20-bin </a:t>
            </a:r>
            <a:r>
              <a:rPr lang="de-DE" sz="3600" b="0" strike="noStrike" spc="-1" dirty="0" err="1">
                <a:solidFill>
                  <a:schemeClr val="accent1"/>
                </a:solidFill>
                <a:latin typeface="Trebuchet MS"/>
              </a:rPr>
              <a:t>histogram</a:t>
            </a:r>
            <a:r>
              <a:rPr lang="de-DE" sz="3600" b="0" strike="noStrike" spc="-1" dirty="0">
                <a:solidFill>
                  <a:schemeClr val="accent1"/>
                </a:solidFill>
                <a:latin typeface="Trebuchet MS"/>
              </a:rPr>
              <a:t> </a:t>
            </a: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0" name="Grafik 289"/>
          <p:cNvPicPr/>
          <p:nvPr/>
        </p:nvPicPr>
        <p:blipFill>
          <a:blip r:embed="rId2"/>
          <a:stretch/>
        </p:blipFill>
        <p:spPr>
          <a:xfrm>
            <a:off x="2041200" y="2189520"/>
            <a:ext cx="5878440" cy="4110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3600" b="0" strike="noStrike" spc="-1" dirty="0">
                <a:solidFill>
                  <a:schemeClr val="accent1"/>
                </a:solidFill>
                <a:latin typeface="Trebuchet MS"/>
              </a:rPr>
              <a:t>Zipf fit </a:t>
            </a:r>
            <a:r>
              <a:rPr lang="de-DE" sz="3600" b="0" strike="noStrike" spc="-1" dirty="0" err="1">
                <a:solidFill>
                  <a:schemeClr val="accent1"/>
                </a:solidFill>
                <a:latin typeface="Trebuchet MS"/>
              </a:rPr>
              <a:t>curve</a:t>
            </a: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2" name="Grafik 291"/>
          <p:cNvPicPr/>
          <p:nvPr/>
        </p:nvPicPr>
        <p:blipFill>
          <a:blip r:embed="rId2"/>
          <a:stretch/>
        </p:blipFill>
        <p:spPr>
          <a:xfrm>
            <a:off x="645120" y="1929960"/>
            <a:ext cx="5114520" cy="3865320"/>
          </a:xfrm>
          <a:prstGeom prst="rect">
            <a:avLst/>
          </a:prstGeom>
          <a:ln w="0">
            <a:noFill/>
          </a:ln>
        </p:spPr>
      </p:pic>
      <p:sp>
        <p:nvSpPr>
          <p:cNvPr id="293" name="Textfeld 1"/>
          <p:cNvSpPr/>
          <p:nvPr/>
        </p:nvSpPr>
        <p:spPr>
          <a:xfrm>
            <a:off x="6755040" y="2828880"/>
            <a:ext cx="2468880" cy="256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Compared total and linked tokens per page.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Both follow Zipf’s law with strong power-law behavior 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(R² ≈ 0.98). 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3600" b="0" strike="noStrike" spc="-1">
                <a:solidFill>
                  <a:schemeClr val="accent1"/>
                </a:solidFill>
                <a:latin typeface="Trebuchet MS"/>
              </a:rPr>
              <a:t>Heaps’ Law: Cumulative Linked Entities 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5" name="Grafik 294"/>
          <p:cNvPicPr/>
          <p:nvPr/>
        </p:nvPicPr>
        <p:blipFill>
          <a:blip r:embed="rId2"/>
          <a:stretch/>
        </p:blipFill>
        <p:spPr>
          <a:xfrm>
            <a:off x="5220000" y="3780000"/>
            <a:ext cx="3564720" cy="2909160"/>
          </a:xfrm>
          <a:prstGeom prst="rect">
            <a:avLst/>
          </a:prstGeom>
          <a:ln w="0">
            <a:noFill/>
          </a:ln>
        </p:spPr>
      </p:pic>
      <p:pic>
        <p:nvPicPr>
          <p:cNvPr id="296" name="Grafik 295"/>
          <p:cNvPicPr/>
          <p:nvPr/>
        </p:nvPicPr>
        <p:blipFill>
          <a:blip r:embed="rId3"/>
          <a:stretch/>
        </p:blipFill>
        <p:spPr>
          <a:xfrm>
            <a:off x="357480" y="1800000"/>
            <a:ext cx="4862160" cy="3981240"/>
          </a:xfrm>
          <a:prstGeom prst="rect">
            <a:avLst/>
          </a:prstGeom>
          <a:ln w="0">
            <a:noFill/>
          </a:ln>
        </p:spPr>
      </p:pic>
      <p:sp>
        <p:nvSpPr>
          <p:cNvPr id="297" name="Textfeld 2"/>
          <p:cNvSpPr/>
          <p:nvPr/>
        </p:nvSpPr>
        <p:spPr>
          <a:xfrm>
            <a:off x="5940000" y="1766520"/>
            <a:ext cx="2699640" cy="201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Cumulative linked entities follow Heaps’ law. Nearly linear scaling between entities and tokens 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(β ≈ 0.97,R² ≈ 0.9998). 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720000" y="609480"/>
            <a:ext cx="899964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3600" b="0" strike="noStrike" spc="-1">
                <a:solidFill>
                  <a:schemeClr val="accent1"/>
                </a:solidFill>
                <a:latin typeface="Trebuchet MS"/>
              </a:rPr>
              <a:t>Histogram of LOC and ORG counts per page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9" name="Grafik 298"/>
          <p:cNvPicPr/>
          <p:nvPr/>
        </p:nvPicPr>
        <p:blipFill>
          <a:blip r:embed="rId2"/>
          <a:stretch/>
        </p:blipFill>
        <p:spPr>
          <a:xfrm>
            <a:off x="282600" y="2120040"/>
            <a:ext cx="4505040" cy="3502440"/>
          </a:xfrm>
          <a:prstGeom prst="rect">
            <a:avLst/>
          </a:prstGeom>
          <a:ln w="0">
            <a:noFill/>
          </a:ln>
        </p:spPr>
      </p:pic>
      <p:pic>
        <p:nvPicPr>
          <p:cNvPr id="300" name="Grafik 299"/>
          <p:cNvPicPr/>
          <p:nvPr/>
        </p:nvPicPr>
        <p:blipFill>
          <a:blip r:embed="rId3"/>
          <a:stretch/>
        </p:blipFill>
        <p:spPr>
          <a:xfrm>
            <a:off x="4824000" y="2103120"/>
            <a:ext cx="4499640" cy="3548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8624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3600" b="0" strike="noStrike" spc="-1">
                <a:solidFill>
                  <a:schemeClr val="accent1"/>
                </a:solidFill>
                <a:latin typeface="Trebuchet MS"/>
              </a:rPr>
              <a:t>Example of the top pages by organizations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feld 3"/>
          <p:cNvSpPr/>
          <p:nvPr/>
        </p:nvSpPr>
        <p:spPr>
          <a:xfrm>
            <a:off x="6480000" y="2478600"/>
            <a:ext cx="2699640" cy="256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Detected Location (L) and Organization (P) entities using spaCy’s Finnish NER model.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Found heavy-tailed distribution — list pages dominate the upper tail. 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3" name="Grafik 302"/>
          <p:cNvPicPr/>
          <p:nvPr/>
        </p:nvPicPr>
        <p:blipFill>
          <a:blip r:embed="rId2"/>
          <a:stretch/>
        </p:blipFill>
        <p:spPr>
          <a:xfrm>
            <a:off x="180000" y="1800000"/>
            <a:ext cx="5600160" cy="3153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3600" b="0" strike="noStrike" spc="-1">
                <a:solidFill>
                  <a:schemeClr val="accent1"/>
                </a:solidFill>
                <a:latin typeface="Trebuchet MS"/>
              </a:rPr>
              <a:t>Leaps’ law for Locations 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feld 4"/>
          <p:cNvSpPr/>
          <p:nvPr/>
        </p:nvSpPr>
        <p:spPr>
          <a:xfrm>
            <a:off x="5724000" y="1730520"/>
            <a:ext cx="3276000" cy="201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Leaps’ law fit for Locations: 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β ≈ 1.09, R² ≈ 0.999 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Cumulative Location entities scale almost linearly with number of pages. 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6" name="Grafik 305"/>
          <p:cNvPicPr/>
          <p:nvPr/>
        </p:nvPicPr>
        <p:blipFill>
          <a:blip r:embed="rId2"/>
          <a:stretch/>
        </p:blipFill>
        <p:spPr>
          <a:xfrm>
            <a:off x="360000" y="1800000"/>
            <a:ext cx="4863960" cy="3857760"/>
          </a:xfrm>
          <a:prstGeom prst="rect">
            <a:avLst/>
          </a:prstGeom>
          <a:ln w="0">
            <a:noFill/>
          </a:ln>
        </p:spPr>
      </p:pic>
      <p:pic>
        <p:nvPicPr>
          <p:cNvPr id="307" name="Grafik 306"/>
          <p:cNvPicPr/>
          <p:nvPr/>
        </p:nvPicPr>
        <p:blipFill>
          <a:blip r:embed="rId3"/>
          <a:stretch/>
        </p:blipFill>
        <p:spPr>
          <a:xfrm>
            <a:off x="5256000" y="3816000"/>
            <a:ext cx="3599640" cy="2958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3600" b="0" strike="noStrike" spc="-1">
                <a:solidFill>
                  <a:schemeClr val="accent1"/>
                </a:solidFill>
                <a:latin typeface="Trebuchet MS"/>
              </a:rPr>
              <a:t>Leaps’ law for Organizations 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feld 6"/>
          <p:cNvSpPr/>
          <p:nvPr/>
        </p:nvSpPr>
        <p:spPr>
          <a:xfrm>
            <a:off x="5868000" y="1910520"/>
            <a:ext cx="3599640" cy="174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Leaps’ law fit for Organizations: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 β ≈ 1.08, R² ≈ 0.999  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1800" b="0" strike="noStrike" spc="-1">
                <a:solidFill>
                  <a:schemeClr val="dk1"/>
                </a:solidFill>
                <a:latin typeface="Trebuchet MS"/>
              </a:rPr>
              <a:t>Shows same growth pattern as Locations. </a:t>
            </a: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0" name="Grafik 309"/>
          <p:cNvPicPr/>
          <p:nvPr/>
        </p:nvPicPr>
        <p:blipFill>
          <a:blip r:embed="rId2"/>
          <a:stretch/>
        </p:blipFill>
        <p:spPr>
          <a:xfrm>
            <a:off x="331920" y="1791720"/>
            <a:ext cx="5103720" cy="3946680"/>
          </a:xfrm>
          <a:prstGeom prst="rect">
            <a:avLst/>
          </a:prstGeom>
          <a:ln w="0">
            <a:noFill/>
          </a:ln>
        </p:spPr>
      </p:pic>
      <p:pic>
        <p:nvPicPr>
          <p:cNvPr id="311" name="Grafik 310"/>
          <p:cNvPicPr/>
          <p:nvPr/>
        </p:nvPicPr>
        <p:blipFill>
          <a:blip r:embed="rId3"/>
          <a:stretch/>
        </p:blipFill>
        <p:spPr>
          <a:xfrm>
            <a:off x="5184000" y="3819600"/>
            <a:ext cx="3659040" cy="3002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strike="noStrike" spc="-1">
                <a:solidFill>
                  <a:schemeClr val="accent1"/>
                </a:solidFill>
                <a:latin typeface="Trebuchet MS"/>
              </a:rPr>
              <a:t>Character lengths of Organizations vs Locations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3" name="Espace réservé du contenu 4" descr="Une image contenant texte, capture d’écran, Tracé, ligne&#10;&#10;Le contenu généré par l’IA peut être incorrect."/>
          <p:cNvPicPr/>
          <p:nvPr/>
        </p:nvPicPr>
        <p:blipFill>
          <a:blip r:embed="rId2"/>
          <a:stretch/>
        </p:blipFill>
        <p:spPr>
          <a:xfrm>
            <a:off x="564480" y="2291400"/>
            <a:ext cx="5317920" cy="3438360"/>
          </a:xfrm>
          <a:prstGeom prst="rect">
            <a:avLst/>
          </a:prstGeom>
          <a:ln w="0">
            <a:noFill/>
          </a:ln>
        </p:spPr>
      </p:pic>
      <p:pic>
        <p:nvPicPr>
          <p:cNvPr id="314" name="Image 6" descr="Une image contenant texte, capture d’écran, Police, conception&#10;&#10;Le contenu généré par l’IA peut être incorrect."/>
          <p:cNvPicPr/>
          <p:nvPr/>
        </p:nvPicPr>
        <p:blipFill>
          <a:blip r:embed="rId3"/>
          <a:stretch/>
        </p:blipFill>
        <p:spPr>
          <a:xfrm>
            <a:off x="6491520" y="1517760"/>
            <a:ext cx="2351160" cy="4867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5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/>
            </a:endParaRPr>
          </a:p>
        </p:txBody>
      </p:sp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1287000" y="609480"/>
            <a:ext cx="10196640" cy="109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strike="noStrike" spc="-1">
                <a:solidFill>
                  <a:schemeClr val="accent1"/>
                </a:solidFill>
                <a:latin typeface="Trebuchet MS"/>
              </a:rPr>
              <a:t>Limitations and Issues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Isosceles Tri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20" y="720"/>
            <a:ext cx="842040" cy="5665320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fr-FR" sz="1800" b="0" strike="noStrike" spc="-1">
              <a:solidFill>
                <a:schemeClr val="lt1"/>
              </a:solidFill>
              <a:latin typeface="Trebuchet MS"/>
            </a:endParaRPr>
          </a:p>
        </p:txBody>
      </p:sp>
      <p:sp>
        <p:nvSpPr>
          <p:cNvPr id="318" name="Isosceles Tri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742480" y="4013280"/>
            <a:ext cx="447840" cy="28440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fr-FR" sz="1800" b="0" strike="noStrike" spc="-1">
              <a:solidFill>
                <a:schemeClr val="lt1"/>
              </a:solidFill>
              <a:latin typeface="Trebuchet MS"/>
            </a:endParaRPr>
          </a:p>
        </p:txBody>
      </p:sp>
      <p:graphicFrame>
        <p:nvGraphicFramePr>
          <p:cNvPr id="2" name="Diagram1"/>
          <p:cNvGraphicFramePr/>
          <p:nvPr>
            <p:extLst>
              <p:ext uri="{D42A27DB-BD31-4B8C-83A1-F6EECF244321}">
                <p14:modId xmlns:p14="http://schemas.microsoft.com/office/powerpoint/2010/main" val="281833339"/>
              </p:ext>
            </p:extLst>
          </p:nvPr>
        </p:nvGraphicFramePr>
        <p:xfrm>
          <a:off x="1287000" y="1948680"/>
          <a:ext cx="9617400" cy="4092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9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1287000" y="609480"/>
            <a:ext cx="10196640" cy="109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strike="noStrike" spc="-1">
                <a:solidFill>
                  <a:schemeClr val="accent1"/>
                </a:solidFill>
                <a:latin typeface="Trebuchet MS"/>
              </a:rPr>
              <a:t>What’s next?</a:t>
            </a:r>
            <a:endParaRPr lang="fr-F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Isosceles Tri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20" y="720"/>
            <a:ext cx="842040" cy="5665320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fr-FR" sz="1800" b="0" strike="noStrike" spc="-1">
              <a:solidFill>
                <a:schemeClr val="lt1"/>
              </a:solidFill>
              <a:latin typeface="Trebuchet MS"/>
            </a:endParaRPr>
          </a:p>
        </p:txBody>
      </p:sp>
      <p:sp>
        <p:nvSpPr>
          <p:cNvPr id="322" name="Isosceles Tri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742480" y="4013280"/>
            <a:ext cx="447840" cy="28440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fr-FR" sz="1800" b="0" strike="noStrike" spc="-1">
              <a:solidFill>
                <a:schemeClr val="lt1"/>
              </a:solidFill>
              <a:latin typeface="Trebuchet MS"/>
            </a:endParaRPr>
          </a:p>
        </p:txBody>
      </p:sp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1768539721"/>
              </p:ext>
            </p:extLst>
          </p:nvPr>
        </p:nvGraphicFramePr>
        <p:xfrm>
          <a:off x="1287000" y="1948680"/>
          <a:ext cx="9617400" cy="4092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462</Words>
  <Application>Microsoft Office PowerPoint</Application>
  <PresentationFormat>Breitbild</PresentationFormat>
  <Paragraphs>76</Paragraphs>
  <Slides>22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16</vt:i4>
      </vt:variant>
      <vt:variant>
        <vt:lpstr>Folientitel</vt:lpstr>
      </vt:variant>
      <vt:variant>
        <vt:i4>22</vt:i4>
      </vt:variant>
    </vt:vector>
  </HeadingPairs>
  <TitlesOfParts>
    <vt:vector size="44" baseType="lpstr">
      <vt:lpstr>Arial</vt:lpstr>
      <vt:lpstr>Symbol</vt:lpstr>
      <vt:lpstr>Times New Roman</vt:lpstr>
      <vt:lpstr>Trebuchet MS</vt:lpstr>
      <vt:lpstr>Wingdings</vt:lpstr>
      <vt:lpstr>Wingdings 3</vt:lpstr>
      <vt:lpstr>Facette</vt:lpstr>
      <vt:lpstr>Facette</vt:lpstr>
      <vt:lpstr>Facette</vt:lpstr>
      <vt:lpstr>Facette</vt:lpstr>
      <vt:lpstr>Facette</vt:lpstr>
      <vt:lpstr>Facette</vt:lpstr>
      <vt:lpstr>Facette</vt:lpstr>
      <vt:lpstr>Facette</vt:lpstr>
      <vt:lpstr>Facette</vt:lpstr>
      <vt:lpstr>Facette</vt:lpstr>
      <vt:lpstr>Facette</vt:lpstr>
      <vt:lpstr>Facette</vt:lpstr>
      <vt:lpstr>Facette</vt:lpstr>
      <vt:lpstr>Facette</vt:lpstr>
      <vt:lpstr>Facette</vt:lpstr>
      <vt:lpstr>Facette</vt:lpstr>
      <vt:lpstr>Project 5: Zipf’s Law distribution of Finnish Wikipedia Corpus. </vt:lpstr>
      <vt:lpstr>Share of Work</vt:lpstr>
      <vt:lpstr>Zipf‘s Law </vt:lpstr>
      <vt:lpstr>Finnish Wikipedia Corpus</vt:lpstr>
      <vt:lpstr>Corpus access</vt:lpstr>
      <vt:lpstr>Linked Entity Counts</vt:lpstr>
      <vt:lpstr>Linked Entity Counts</vt:lpstr>
      <vt:lpstr>Token Counts</vt:lpstr>
      <vt:lpstr>Token Counts</vt:lpstr>
      <vt:lpstr>Token Counts</vt:lpstr>
      <vt:lpstr>Frequencies of Token Counts</vt:lpstr>
      <vt:lpstr>Curve to Histogram Fitting</vt:lpstr>
      <vt:lpstr>20-bin histogram </vt:lpstr>
      <vt:lpstr>Zipf fit curve</vt:lpstr>
      <vt:lpstr>Heaps’ Law: Cumulative Linked Entities </vt:lpstr>
      <vt:lpstr>Histogram of LOC and ORG counts per page</vt:lpstr>
      <vt:lpstr>Example of the top pages by organizations</vt:lpstr>
      <vt:lpstr>Leaps’ law for Locations </vt:lpstr>
      <vt:lpstr>Leaps’ law for Organizations </vt:lpstr>
      <vt:lpstr>Character lengths of Organizations vs Locations</vt:lpstr>
      <vt:lpstr>Limitations and Issues</vt:lpstr>
      <vt:lpstr>What’s next?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Tobias Westphal</dc:creator>
  <dc:description/>
  <cp:lastModifiedBy>Tobias Westphal</cp:lastModifiedBy>
  <cp:revision>9</cp:revision>
  <dcterms:created xsi:type="dcterms:W3CDTF">2025-10-30T13:11:04Z</dcterms:created>
  <dcterms:modified xsi:type="dcterms:W3CDTF">2025-11-03T11:00:30Z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Grand écran</vt:lpwstr>
  </property>
  <property fmtid="{D5CDD505-2E9C-101B-9397-08002B2CF9AE}" pid="4" name="Slides">
    <vt:i4>15</vt:i4>
  </property>
</Properties>
</file>